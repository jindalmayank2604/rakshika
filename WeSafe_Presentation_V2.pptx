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[ 01 / 10 ] 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WESAFE : RAKSHIKA</a:t>
            </a:r>
          </a:p>
          <a:p>
            <a:pPr>
              <a:spcAft>
                <a:spcPts val="600"/>
              </a:spcAft>
              <a:defRPr sz="1400">
                <a:solidFill>
                  <a:srgbClr val="6366F1"/>
                </a:solidFill>
                <a:latin typeface="Segoe UI"/>
              </a:defRPr>
            </a:pPr>
            <a:r>
              <a:t>Intelligent Personal Safety, Crowdsourced Hazard Mapping &amp; Safety-Weighted Navigation Ecosystem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A full-stack civic safety platform engineered to transform personal security from passive post-incident alarm response into proactive, algorithmic hazard avoidance.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3429000" cy="29260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456432"/>
            <a:ext cx="315468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MODULAR NAVIGATION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Safety-Weighted Dijkstra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Custom graph search algorithm that balances geographic distance against real-time hazard severity scores, steering commuters away from high-risk corridors.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3291840"/>
            <a:ext cx="3429000" cy="29260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3456432"/>
            <a:ext cx="315468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COMMUNITY CONSENSUS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Global Incident Persistence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PostgreSQL-backed shared reporting pipeline eliminating client-isolated storage. Unresolved reports instantly populate global maps and alter path costs for all commuters.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3291840"/>
            <a:ext cx="3429000" cy="29260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3456432"/>
            <a:ext cx="315468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43F5E"/>
                </a:solidFill>
                <a:latin typeface="Segoe UI"/>
              </a:defRPr>
            </a:pPr>
            <a:r>
              <a:t>RAPID INTERVENTION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Emergency SOS &amp; Safe Havens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One-touch GPS emergency broadcast engine paired with a curated database of verified 24/7 safe havens (police stations, hospitals, shelters) along navigation routes.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[ 02 / 10 ]   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The Navigational Blind Spot &amp; The Necessity for Safety-First Routing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Traditional mapping platforms prioritize distance and time, remaining blind to pedestrian vulnerability.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728655" cy="13716"/>
          </a:xfrm>
          <a:prstGeom prst="rect">
            <a:avLst/>
          </a:prstGeom>
          <a:solidFill>
            <a:srgbClr val="26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43F5E"/>
                </a:solidFill>
                <a:latin typeface="Segoe UI"/>
              </a:defRPr>
            </a:pPr>
            <a:r>
              <a:t>CRITICAL PAIN POINT 01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Blind Optimization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Conventional routing systems (Google Maps, OSRM, GraphHopper) minimize travel time or Euclidean distance strictly.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They blindly guide solitary pedestrians into poorly lit alleys, isolated passages, or areas with frequent harassment.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Saving 90 seconds of transit time frequently introduces severe physical risk for commuters.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CRITICAL PAIN POINT 02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Disconnected &amp; Stale Data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Civic safety reporting has historically been siloed inside administrative portals with days of moderation delay.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Commuters lack a real-time crowdsourced telemetry layer that reflects immediate, active street-level hazards.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Without shared persistence, reports remain isolated on local client caches rather than protecting the collective public.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THE IMPERATIVE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Why WeSafe Is Necessary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Vulnerable demographics disproportionately curtail employment, education, and social movement due to fear of harassment.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Reactive tools (panic whistles, delayed SMS) only operate once harm has commenced; proactive avoidance is vital.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Navigation must treat safety as a first-class mathematical constraint, not an afterthought.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[ 03 / 10 ] 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Algorithmic Risk Avoidance &amp; Unified Civic Telemetry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 dual-engine paradigm: combining modified graph theory with live relational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728655" cy="13716"/>
          </a:xfrm>
          <a:prstGeom prst="rect">
            <a:avLst/>
          </a:prstGeom>
          <a:solidFill>
            <a:srgbClr val="26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SOLUTION PILLAR 01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Algorithmic Detour Engine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Incorporate a dynamic Safety Index into pathfinding edge weights.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Whenever a hazard is reported along an edge (u, v), the effective traversal cost spikes exponentially.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The router naturally discovers optimal circumvention corridors that add minimal physical distance while maximizing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SOLUTION PILLAR 02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Immediate Threat Ingestion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Abolish multi-day administrative queues in favor of a binary status state machine (Unresolved vs. Resolved).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Every report uploaded by any commuter immediately enters the database and surfaces on all client maps in real time.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A shared 4-second reactive polling cadence synchronizes live hazard heatmaps globally.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SOLUTION PILLAR 03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Safe Haven Attraction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Incorporate a curated network of verified 24/7 sanctuaries: police stations, hospitals, well-lit petrol pumps, and transit kiosks.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Graph nodes close to Safe Havens receive an algorithmic safety bonus, actively funneling pedestrians toward populated corridors.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One-touch routing directs distress cases to the nearest sanctuary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[ 04 / 10 ] 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Full-Stack System Architecture &amp; Engineering Components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 high-performance decoupled architecture engineered for responsiveness, spatial queries, and ACID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728655" cy="13716"/>
          </a:xfrm>
          <a:prstGeom prst="rect">
            <a:avLst/>
          </a:prstGeom>
          <a:solidFill>
            <a:srgbClr val="26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42032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2212848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EA5E9"/>
                </a:solidFill>
                <a:latin typeface="Segoe UI"/>
              </a:defRPr>
            </a:pPr>
            <a:r>
              <a:t>FRONTEND CLIENT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React 18 &amp; MapLibre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React 18 with functional hooks &amp; Context API for global state management.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Vite build toolchain delivering sub-second hot module reloading.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Tailwind CSS for responsive modular components and dark mode UI.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MapLibre GL client-side rendering for vector and raster geospatial tiles.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Lucide React for crisp vector iconography.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011680"/>
            <a:ext cx="2542032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2176272"/>
            <a:ext cx="2212848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BACKEND API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Node.js &amp; Express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Node.js runtime with asynchronous non-blocking event loop.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Express.js REST API providing clean resource-oriented endpoints.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CORS middleware for secure cross-origin resource sharing.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JWT (JSON Web Token) bearer token authentication.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Parameterized SQL queries to strictly eliminate SQL injection vulnerabilities.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11680"/>
            <a:ext cx="2542032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176272"/>
            <a:ext cx="2212848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6366F1"/>
                </a:solidFill>
                <a:latin typeface="Segoe UI"/>
              </a:defRPr>
            </a:pPr>
            <a:r>
              <a:t>PERSISTENCE TIER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PostgreSQL Database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PostgreSQL 18 relational engine running on port 5432.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pg connection pooling managing concurrent client transactions.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Normalized tables: users, reports, emergency_contacts.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ACID transactional guarantees on critical incident writes.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Single source of truth: 0% dependency on mock data or local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011680"/>
            <a:ext cx="2542032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2176272"/>
            <a:ext cx="2212848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43F5E"/>
                </a:solidFill>
                <a:latin typeface="Segoe UI"/>
              </a:defRPr>
            </a:pPr>
            <a:r>
              <a:t>SPATIAL &amp; ROUTING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Dijkstra &amp; OpenStreetMap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Custom Modified Dijkstra Algorithm implemented in JavaScript.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Binary Min-Heap Priority Queue for O((V + E) log V) execution.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OSRM (Open Source Routing Machine) road geometry extraction.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Nominatim Geocoding API for reverse geocoding &amp; address resolution.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Haversine spherical distance metric for proximity penalty decay.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[ 05 / 10 ]   CORE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Safety-Weighted Dijkstra Pathfinding Formulation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Balancing spatial distance against incident hazard density through dynamic graph edge penalization.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728655" cy="13716"/>
          </a:xfrm>
          <a:prstGeom prst="rect">
            <a:avLst/>
          </a:prstGeom>
          <a:solidFill>
            <a:srgbClr val="26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21792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MATHEMATICAL FORMULATION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Edge Weight Penalty Function</a:t>
            </a:r>
          </a:p>
          <a:p>
            <a:pPr>
              <a:spcAft>
                <a:spcPts val="1200"/>
              </a:spcAft>
              <a:defRPr sz="1100" b="1">
                <a:solidFill>
                  <a:srgbClr val="0EA5E9"/>
                </a:solidFill>
                <a:latin typeface="Consolas"/>
              </a:defRPr>
            </a:pPr>
            <a:r>
              <a:t>Cost(u, v) = Distance(u, v) * [ 1 + alpha * ((100 - SafetyIndex(u, v)) / 100) ]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Distance(u, v): Spherical great-circle distance (km) between nodes computed via the Haversine equation.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SafetyIndex(u, v): Dynamic corridor rating (0 to 100) continuously recalibrated from PostgreSQL hazard reports.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alpha (Penalty Weight = 2.5): Scaling factor governing the algorithm's willingness to detour. High alpha enforces strict hazard avoidance.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Hazard Penalty Decay: Incidents within 1.0 km exert 2.0x weight; incidents within 3.0 km exert 1.4x weight; incidents beyond 20 km decay to 0.6x.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Severity Weights: Critical incidents deduct 24 pts; High deducts 16 pts; Medium deducts 8 pts; Safe Havens inject +10 pt bonus.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62495" y="2011680"/>
            <a:ext cx="429768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224028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HEAP-BASED IMPLEMENTATION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Binary Priority Queue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MinPriorityQueue: Custom binary min-heap implemented in dijkstraRouting.js.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Logarithmic Efficiency: Insertion and extraction execute in O(log V) time using _bubbleUp and _sinkDown operations.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Overall Complexity: O((V + E) log V), delivering sub-50ms execution on local street graphs.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Dual-Route Evaluation: Simultaneously extracts the purely shortest corridor and the safety-weighted optimal corridor for user comparison.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Fallback Geometry: If external routing graph fails, creates intelligent waypoint tangents around high-risk centroid coordinates.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[ 06 / 10 ]  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Elimination of Client Isolation &amp; Global Database Synchronization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Resolving the visibility defect: Transitioning from browser-local state to a single shared PostgreSQL truth.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728655" cy="13716"/>
          </a:xfrm>
          <a:prstGeom prst="rect">
            <a:avLst/>
          </a:prstGeom>
          <a:solidFill>
            <a:srgbClr val="26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43F5E"/>
                </a:solidFill>
                <a:latin typeface="Segoe UI"/>
              </a:defRPr>
            </a:pPr>
            <a:r>
              <a:t>STAGE 01 : REFACTOR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Eliminating Illusions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Defect Found: Earlier builds utilized in-memory arrays and localStorage fallbacks that gave the illusion of cloud sync.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Reports created by User A remained isolated to User A's browser instance; User B could not see hazards.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Resolution: Fully excised mockData references from api.js and forced strict Express API persistence.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STAGE 02 : INGESTION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PostgreSQL Source of Truth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Every report is posted directly to POST /api/incidents with parameterized SQL INSERT queries.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Binary status tag initialized to 'Unresolved'; records are assigned immutable database IDs and server timestamps.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Zero verification bottlenecks: Community safety hazards are registered immediately to warn public commuters.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STAGE 03 : REPLICATION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Reactive Multi-Client Sync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SafetyContext implements a 4-second background polling cycle polling GET /api/incidents from the central server.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Dispatches custom DOM events (wesafe_report_added) for zero-latency multi-tab updates.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Verified via two-client automated integration test (testTwoClients.js): User A submit -&gt; User B view verified 100%.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[ 07 / 10 ]   FEATURE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Modular Personal Safety Capabilities &amp; Application Services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Four integrated application modules providing proactive route planning, active alerts, and verified sanctuaries.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728655" cy="13716"/>
          </a:xfrm>
          <a:prstGeom prst="rect">
            <a:avLst/>
          </a:prstGeom>
          <a:solidFill>
            <a:srgbClr val="26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48656" cy="205740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76272"/>
            <a:ext cx="4882896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MODULE 01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Safer Route Planner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Computes and contrasts Dijkstra-powered safest corridors against standard shortest routes. Renders live safety percentage badges, traversal time, and hazard proximity metrics with one-click map projection.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2011680"/>
            <a:ext cx="5248656" cy="205740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6" y="2176272"/>
            <a:ext cx="4882896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MODULE 02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Instant SOS Emergency Dispatch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One-touch distress broadcast mechanism that captures high-precision browser GPS coordinates, compiles distress telemetry, and triggers emergency notifications to designated trusted contacts.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5248656" cy="205740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16552"/>
            <a:ext cx="4882896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MODULE 03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Interactive Hazard Map Explorer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MapLibre GL visualization layer with category-specific filtering (Poor Lighting, Harassment, Infrastructure, Deserted). Features severity-coded map pins and full incident descriptions.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4251960"/>
            <a:ext cx="5248656" cy="205740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4416552"/>
            <a:ext cx="4882896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MODULE 04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Verified Safe Haven Directory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Curated database of verified 24/7 public sanctuaries: police stations, hospitals, pharmacies, and security kiosks. Features direct routing, contact dialing, and distance indicators.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[ 08 / 10 ]  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PostgreSQL Entity Architecture &amp; Relational Data Integrity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Normalized schema design guaranteeing ACID compliance, foreign key cascade rules, and credential encryption.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728655" cy="13716"/>
          </a:xfrm>
          <a:prstGeom prst="rect">
            <a:avLst/>
          </a:prstGeom>
          <a:solidFill>
            <a:srgbClr val="26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30998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ENTITY 01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Table: users</a:t>
            </a:r>
          </a:p>
          <a:p>
            <a:pPr>
              <a:spcAft>
                <a:spcPts val="400"/>
              </a:spcAft>
              <a:defRPr sz="900" b="1">
                <a:solidFill>
                  <a:srgbClr val="94A3B8"/>
                </a:solidFill>
                <a:latin typeface="Segoe UI"/>
              </a:defRPr>
            </a:pPr>
            <a:r>
              <a:t>COLUMNS &amp; DATA TYPES: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id : SERIAL PRIMARY KEY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username : VARCHAR(50) NOT NULL UNIQUE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email : VARCHAR(100) NOT NULL UNIQUE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password_hash : VARCHAR(255) NOT NULL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role : VARCHAR(20) DEFAULT 'user'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created_at : TIMESTAMP WITH TIME ZONE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900" b="1">
                <a:solidFill>
                  <a:srgbClr val="6366F1"/>
                </a:solidFill>
                <a:latin typeface="Segoe UI"/>
              </a:defRPr>
            </a:pPr>
            <a:r>
              <a:t>INTEGRITY GUARANTEE: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Secured with bcrypt cryptographic hashing (salt factor 10). Passwords are never stored in plain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194560"/>
            <a:ext cx="30998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ENTITY 02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Table: reports</a:t>
            </a:r>
          </a:p>
          <a:p>
            <a:pPr>
              <a:spcAft>
                <a:spcPts val="400"/>
              </a:spcAft>
              <a:defRPr sz="900" b="1">
                <a:solidFill>
                  <a:srgbClr val="94A3B8"/>
                </a:solidFill>
                <a:latin typeface="Segoe UI"/>
              </a:defRPr>
            </a:pPr>
            <a:r>
              <a:t>COLUMNS &amp; DATA TYPES: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id : SERIAL PRIMARY KEY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title : VARCHAR(150) NOT NULL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description : TEXT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category : VARCHAR(50) NOT NULL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severity : VARCHAR(20) NOT NULL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latitude : NUMERIC(10, 7) NOT NULL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longitude : NUMERIC(10, 7) NOT NULL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address : VARCHAR(255)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status : VARCHAR(20) DEFAULT 'Unresolved'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created_at : TIMESTAMP WITH TIME ZONE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900" b="1">
                <a:solidFill>
                  <a:srgbClr val="0EA5E9"/>
                </a:solidFill>
                <a:latin typeface="Segoe UI"/>
              </a:defRPr>
            </a:pPr>
            <a:r>
              <a:t>INTEGRITY GUARANTEE: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Coordinates indexed for rapid spatial bounding-box retrieval. Binary status: Unresolved vs. Resolved.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2194560"/>
            <a:ext cx="30998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ENTITY 03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Table: emergency_contacts</a:t>
            </a:r>
          </a:p>
          <a:p>
            <a:pPr>
              <a:spcAft>
                <a:spcPts val="400"/>
              </a:spcAft>
              <a:defRPr sz="900" b="1">
                <a:solidFill>
                  <a:srgbClr val="94A3B8"/>
                </a:solidFill>
                <a:latin typeface="Segoe UI"/>
              </a:defRPr>
            </a:pPr>
            <a:r>
              <a:t>COLUMNS &amp; DATA TYPES: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id : SERIAL PRIMARY KEY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user_id : INT REFERENCES users(id) ON DELETE CASCADE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name : VARCHAR(100) NOT NULL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phone : VARCHAR(20) NOT NULL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relationship : VARCHAR(50)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Consolas"/>
              </a:defRPr>
            </a:pPr>
            <a:r>
              <a:t>--  priority : INT DEFAULT 1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INTEGRITY GUARANTEE: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Enforces strict relational integrity; user account deletion cascades to associated emergency contacts.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[ 09 / 10 ]   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Validation Metrics: Standard Shortest Path vs. Safety-Weighted Dijkstra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Live comparative benchmarking across an urban test grid containing active Critical and High hazards.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728655" cy="13716"/>
          </a:xfrm>
          <a:prstGeom prst="rect">
            <a:avLst/>
          </a:prstGeom>
          <a:solidFill>
            <a:srgbClr val="26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1188720"/>
          </a:xfrm>
          <a:prstGeom prst="roundRect">
            <a:avLst/>
          </a:prstGeom>
          <a:solidFill>
            <a:srgbClr val="182238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03120"/>
            <a:ext cx="3099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10B981"/>
                </a:solidFill>
                <a:latin typeface="Segoe UI"/>
              </a:defRPr>
            </a:pPr>
            <a:r>
              <a:t>+53%</a:t>
            </a:r>
          </a:p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NET SAFETY SCORE GAIN  |  Jump from 24% to 77% Corridor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011680"/>
            <a:ext cx="3429000" cy="1188720"/>
          </a:xfrm>
          <a:prstGeom prst="roundRect">
            <a:avLst/>
          </a:prstGeom>
          <a:solidFill>
            <a:srgbClr val="182238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103120"/>
            <a:ext cx="3099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EA5E9"/>
                </a:solidFill>
                <a:latin typeface="Segoe UI"/>
              </a:defRPr>
            </a:pPr>
            <a:r>
              <a:t>1.41 km</a:t>
            </a:r>
          </a:p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PRUDENT DETOUR DISTANCE  |  Minimal physical penalty for risk circumvention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011680"/>
            <a:ext cx="3429000" cy="1188720"/>
          </a:xfrm>
          <a:prstGeom prst="roundRect">
            <a:avLst/>
          </a:prstGeom>
          <a:solidFill>
            <a:srgbClr val="182238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2103120"/>
            <a:ext cx="3099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6366F1"/>
                </a:solidFill>
                <a:latin typeface="Segoe UI"/>
              </a:defRPr>
            </a:pPr>
            <a:r>
              <a:t>&lt; 45 ms</a:t>
            </a:r>
          </a:p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GRAPH ROUTE LATENCY  |  Heap-optimized O((V+E) log V) pathfinding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248656" cy="28803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479145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43F5E"/>
                </a:solidFill>
                <a:latin typeface="Segoe UI"/>
              </a:defRPr>
            </a:pPr>
            <a:r>
              <a:t>ROUTE PROFILE A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Standard Dijkstra (Shortest Path)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Total Path Distance: 2.99 km (Fastest linear trajectory).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Estimated Travel Duration: 36 min walking transit.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Composite Safety Score: 24% (Severe Risk).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Corridor Threat Exposure: Intersects directly with 2 active Critical hazard zones (poor lighting, harassment).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System Recommendation: REJECTED by WeSafe safety advisor.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3429000"/>
            <a:ext cx="5248656" cy="28803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3611880"/>
            <a:ext cx="479145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ROUTE PROFILE B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WeSafe Modified Dijkstra (Safest Route)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Total Path Distance: 4.40 km (+1.41 km prudent detour).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Estimated Travel Duration: 53 min walking transit.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Composite Safety Score: 77% (High Confidence Safe Path).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Corridor Threat Exposure: 0 Critical hazards intersected; safely bypasses threat buffer zones.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--  System Recommendation: RECOMMENDED as primary safe transit corridor.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[ 10 / 10 ]   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Transforming Urban Mobility &amp; Strategic Engineering Roadmap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Delivering algorithmic peace of mind for daily commuters and scaling towards municipal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728655" cy="13716"/>
          </a:xfrm>
          <a:prstGeom prst="rect">
            <a:avLst/>
          </a:prstGeom>
          <a:solidFill>
            <a:srgbClr val="26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PROJECT DELIVERABLES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Delivered Milestones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Implemented Safety-Weighted Dijkstra Algorithm with O((V+E) log V) heap efficiency.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Eliminated mock data storage; established PostgreSQL as the immutable single source of truth.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Automated multi-client real-time synchronization with 4-second reactive polling cycles.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Designed clean, responsive, modular frontend built on React 18, MapLibre GL, and Tailwind CSS.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SOCIETAL IMPACT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Civic Empowerment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Empowers women, students, and night commuters with transparent route safety scores.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Shifts civic hazard management from delayed bureaucratic intervention to immediate peer protection.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Creates data-backed accountability for municipal lighting and urban infrastructure improvements.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011680"/>
            <a:ext cx="3429000" cy="429768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FUTURE HORIZONS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Engineering Roadmap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Computer-Vision Lighting Analysis: Automated street illumination indexing from dashcam and municipal camera feeds.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Predictive Incident Modeling: Time-series machine learning models predicting risk probabilities based on historical crime patterns.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--  Offline Mesh Fallback: Peer-to-peer Bluetooth Low Energy mesh networking for emergency alerts in zero-connectivity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