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97280" cy="7315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6D2E46"/>
                </a:solidFill>
                <a:latin typeface="Segoe UI"/>
              </a:defRPr>
            </a:pPr>
            <a:r>
              <a:t>WESAFE (RAKSHIKA)</a:t>
            </a:r>
          </a:p>
          <a:p>
            <a:pPr>
              <a:spcAft>
                <a:spcPts val="1800"/>
              </a:spcAft>
              <a:defRPr sz="2000" b="1">
                <a:solidFill>
                  <a:srgbClr val="1E1B18"/>
                </a:solidFill>
                <a:latin typeface="Segoe UI"/>
              </a:defRPr>
            </a:pPr>
            <a:r>
              <a:t>Next-Generation Proactive Women &amp; Community Safety Platform</a:t>
            </a:r>
          </a:p>
          <a:p>
            <a:pPr>
              <a:spcAft>
                <a:spcPts val="3600"/>
              </a:spcAft>
              <a:defRPr sz="1300">
                <a:solidFill>
                  <a:srgbClr val="7A6F66"/>
                </a:solidFill>
                <a:latin typeface="Segoe UI"/>
              </a:defRPr>
            </a:pPr>
            <a:r>
              <a:t>An intelligent, full-stack Progressive Web Application combining live geospatial hazard mapping, modified Dijkstra safety-weighted routing, press-and-hold SOS verification, and real-time community incident ingestion.</a:t>
            </a:r>
          </a:p>
          <a:p>
            <a:pPr>
              <a:defRPr sz="1100" b="1">
                <a:solidFill>
                  <a:srgbClr val="6D2E46"/>
                </a:solidFill>
                <a:latin typeface="Segoe UI"/>
              </a:defRPr>
            </a:pPr>
            <a:r>
              <a:t>CORE POSITIONING: PROTECT  ·  PREVENT  ·  EMPOWER</a:t>
            </a:r>
            <a:br/>
            <a:r>
              <a:t>TECH STACK: React 18 · Node.js &amp; Express REST API · PostgreSQL · MapLibre GL / OSM · Google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D2E46"/>
                </a:solidFill>
                <a:latin typeface="Segoe UI"/>
              </a:defRPr>
            </a:pPr>
            <a:r>
              <a:t>EXECUTIVE SUMMARY</a:t>
            </a:r>
          </a:p>
          <a:p>
            <a:pPr>
              <a:spcAft>
                <a:spcPts val="400"/>
              </a:spcAft>
              <a:defRPr sz="2200" b="1">
                <a:solidFill>
                  <a:srgbClr val="1E1B18"/>
                </a:solidFill>
                <a:latin typeface="Segoe UI"/>
              </a:defRPr>
            </a:pPr>
            <a:r>
              <a:t>Redefining Urban Transit Safety</a:t>
            </a:r>
          </a:p>
          <a:p>
            <a:pPr>
              <a:defRPr sz="1200">
                <a:solidFill>
                  <a:srgbClr val="7A6F66"/>
                </a:solidFill>
                <a:latin typeface="Segoe UI"/>
              </a:defRPr>
            </a:pPr>
            <a:r>
              <a:t>Shifting the paradigm from reactive panic alarms to proactive street-level intelligence.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6499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281635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6D2E46"/>
                </a:solidFill>
                <a:latin typeface="Segoe UI"/>
              </a:defRPr>
            </a:pPr>
            <a:r>
              <a:t>01</a:t>
            </a:r>
          </a:p>
          <a:p>
            <a:pPr>
              <a:spcAft>
                <a:spcPts val="600"/>
              </a:spcAft>
              <a:defRPr sz="1000" b="1">
                <a:solidFill>
                  <a:srgbClr val="6D2E46"/>
                </a:solidFill>
                <a:latin typeface="Segoe UI"/>
              </a:defRPr>
            </a:pPr>
            <a:r>
              <a:t>PROACTIVE AWARENESS</a:t>
            </a:r>
          </a:p>
          <a:p>
            <a:pPr>
              <a:spcAft>
                <a:spcPts val="1400"/>
              </a:spcAft>
              <a:defRPr sz="1600" b="1">
                <a:solidFill>
                  <a:srgbClr val="1E1B18"/>
                </a:solidFill>
                <a:latin typeface="Segoe UI"/>
              </a:defRPr>
            </a:pPr>
            <a:r>
              <a:t>Pre-Trip Safety Evaluation</a:t>
            </a:r>
          </a:p>
          <a:p>
            <a:pPr>
              <a:defRPr sz="1200">
                <a:solidFill>
                  <a:srgbClr val="7A6F66"/>
                </a:solidFill>
                <a:latin typeface="Segoe UI"/>
              </a:defRPr>
            </a:pPr>
            <a:r>
              <a:t>Traditional apps only activate after danger strikes. WeSafe equips commuters with street-level hazard intelligence before departure, assessing lighting, surveillance, and active community incident density.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920240"/>
            <a:ext cx="336499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1728" y="2240280"/>
            <a:ext cx="281635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B6A47"/>
                </a:solidFill>
                <a:latin typeface="Segoe UI"/>
              </a:defRPr>
            </a:pPr>
            <a:r>
              <a:t>02</a:t>
            </a:r>
          </a:p>
          <a:p>
            <a:pPr>
              <a:spcAft>
                <a:spcPts val="600"/>
              </a:spcAft>
              <a:defRPr sz="1000" b="1">
                <a:solidFill>
                  <a:srgbClr val="1B6A47"/>
                </a:solidFill>
                <a:latin typeface="Segoe UI"/>
              </a:defRPr>
            </a:pPr>
            <a:r>
              <a:t>ALGORITHM INNOVATION</a:t>
            </a:r>
          </a:p>
          <a:p>
            <a:pPr>
              <a:spcAft>
                <a:spcPts val="1400"/>
              </a:spcAft>
              <a:defRPr sz="1600" b="1">
                <a:solidFill>
                  <a:srgbClr val="1E1B18"/>
                </a:solidFill>
                <a:latin typeface="Segoe UI"/>
              </a:defRPr>
            </a:pPr>
            <a:r>
              <a:t>Safety-Weighted Dijkstra</a:t>
            </a:r>
          </a:p>
          <a:p>
            <a:pPr>
              <a:defRPr sz="1200">
                <a:solidFill>
                  <a:srgbClr val="7A6F66"/>
                </a:solidFill>
                <a:latin typeface="Segoe UI"/>
              </a:defRPr>
            </a:pPr>
            <a:r>
              <a:t>Pioneering risk-adjusted routing engine. Evaluates physical Haversine distance penalized by proximity to reported incidents (Critical/High) and boosted by Safe Havens, calculating optimal safe corridors.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920240"/>
            <a:ext cx="336499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57616" y="2240280"/>
            <a:ext cx="281635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6D2E46"/>
                </a:solidFill>
                <a:latin typeface="Segoe UI"/>
              </a:defRPr>
            </a:pPr>
            <a:r>
              <a:t>03</a:t>
            </a:r>
          </a:p>
          <a:p>
            <a:pPr>
              <a:spcAft>
                <a:spcPts val="600"/>
              </a:spcAft>
              <a:defRPr sz="1000" b="1">
                <a:solidFill>
                  <a:srgbClr val="6D2E46"/>
                </a:solidFill>
                <a:latin typeface="Segoe UI"/>
              </a:defRPr>
            </a:pPr>
            <a:r>
              <a:t>DATA INTEGRITY</a:t>
            </a:r>
          </a:p>
          <a:p>
            <a:pPr>
              <a:spcAft>
                <a:spcPts val="1400"/>
              </a:spcAft>
              <a:defRPr sz="1600" b="1">
                <a:solidFill>
                  <a:srgbClr val="1E1B18"/>
                </a:solidFill>
                <a:latin typeface="Segoe UI"/>
              </a:defRPr>
            </a:pPr>
            <a:r>
              <a:t>Direct PostgreSQL Pipeline</a:t>
            </a:r>
          </a:p>
          <a:p>
            <a:pPr>
              <a:defRPr sz="1200">
                <a:solidFill>
                  <a:srgbClr val="7A6F66"/>
                </a:solidFill>
                <a:latin typeface="Segoe UI"/>
              </a:defRPr>
            </a:pPr>
            <a:r>
              <a:t>Zero client-side mock storage. Pure relational PostgreSQL architecture with strict two-state lifecycle (Unresolved / Resolved), 1km proximity consensus, and multi-user live synchronization.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D2E46"/>
                </a:solidFill>
                <a:latin typeface="Segoe UI"/>
              </a:defRPr>
            </a:pPr>
            <a:r>
              <a:t>MARKET &amp; PHILOSOPHY</a:t>
            </a:r>
          </a:p>
          <a:p>
            <a:pPr>
              <a:spcAft>
                <a:spcPts val="400"/>
              </a:spcAft>
              <a:defRPr sz="2200" b="1">
                <a:solidFill>
                  <a:srgbClr val="1E1B18"/>
                </a:solidFill>
                <a:latin typeface="Segoe UI"/>
              </a:defRPr>
            </a:pPr>
            <a:r>
              <a:t>The Critical Flaw in Legacy Safety Tools</a:t>
            </a:r>
          </a:p>
          <a:p>
            <a:pPr>
              <a:defRPr sz="1200">
                <a:solidFill>
                  <a:srgbClr val="7A6F66"/>
                </a:solidFill>
                <a:latin typeface="Segoe UI"/>
              </a:defRPr>
            </a:pPr>
            <a:r>
              <a:t>Why traditional emergency apps fail in real-world transit scenarios.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5202936" cy="429768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F0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456285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A33B3B"/>
                </a:solidFill>
                <a:latin typeface="Segoe UI"/>
              </a:defRPr>
            </a:pPr>
            <a:r>
              <a:t>LEGACY EMERGENCY TOOLS</a:t>
            </a:r>
          </a:p>
          <a:p>
            <a:pPr>
              <a:spcAft>
                <a:spcPts val="200"/>
              </a:spcAft>
              <a:defRPr sz="1200" b="1">
                <a:solidFill>
                  <a:srgbClr val="A33B3B"/>
                </a:solidFill>
                <a:latin typeface="Segoe UI"/>
              </a:defRPr>
            </a:pPr>
            <a:r>
              <a:t>✕ Reactive Distress Alarms</a:t>
            </a:r>
          </a:p>
          <a:p>
            <a:pPr>
              <a:spcAft>
                <a:spcPts val="1000"/>
              </a:spcAft>
              <a:defRPr sz="1100">
                <a:solidFill>
                  <a:srgbClr val="1E1B18"/>
                </a:solidFill>
                <a:latin typeface="Segoe UI"/>
              </a:defRPr>
            </a:pPr>
            <a:r>
              <a:t>Only activates after an assault or threat occurs; danger has already escalated before any alert is dispatched.</a:t>
            </a:r>
          </a:p>
          <a:p>
            <a:pPr>
              <a:spcAft>
                <a:spcPts val="200"/>
              </a:spcAft>
              <a:defRPr sz="1200" b="1">
                <a:solidFill>
                  <a:srgbClr val="A33B3B"/>
                </a:solidFill>
                <a:latin typeface="Segoe UI"/>
              </a:defRPr>
            </a:pPr>
            <a:r>
              <a:t>✕ Distance-Only Navigation</a:t>
            </a:r>
          </a:p>
          <a:p>
            <a:pPr>
              <a:spcAft>
                <a:spcPts val="1000"/>
              </a:spcAft>
              <a:defRPr sz="1100">
                <a:solidFill>
                  <a:srgbClr val="1E1B18"/>
                </a:solidFill>
                <a:latin typeface="Segoe UI"/>
              </a:defRPr>
            </a:pPr>
            <a:r>
              <a:t>Mainstream mapping apps (Google Maps) route purely on time/distance, steering commuters into dark or secluded shortcuts.</a:t>
            </a:r>
          </a:p>
          <a:p>
            <a:pPr>
              <a:spcAft>
                <a:spcPts val="200"/>
              </a:spcAft>
              <a:defRPr sz="1200" b="1">
                <a:solidFill>
                  <a:srgbClr val="A33B3B"/>
                </a:solidFill>
                <a:latin typeface="Segoe UI"/>
              </a:defRPr>
            </a:pPr>
            <a:r>
              <a:t>✕ High False-Positive SOS</a:t>
            </a:r>
          </a:p>
          <a:p>
            <a:pPr>
              <a:spcAft>
                <a:spcPts val="1000"/>
              </a:spcAft>
              <a:defRPr sz="1100">
                <a:solidFill>
                  <a:srgbClr val="1E1B18"/>
                </a:solidFill>
                <a:latin typeface="Segoe UI"/>
              </a:defRPr>
            </a:pPr>
            <a:r>
              <a:t>Single-tap triggers generate frequent accidental pocket presses, exhausting police and family vigilance.</a:t>
            </a:r>
          </a:p>
          <a:p>
            <a:pPr>
              <a:spcAft>
                <a:spcPts val="200"/>
              </a:spcAft>
              <a:defRPr sz="1200" b="1">
                <a:solidFill>
                  <a:srgbClr val="A33B3B"/>
                </a:solidFill>
                <a:latin typeface="Segoe UI"/>
              </a:defRPr>
            </a:pPr>
            <a:r>
              <a:t>✕ Siloed Hazard Information</a:t>
            </a:r>
          </a:p>
          <a:p>
            <a:pPr>
              <a:spcAft>
                <a:spcPts val="1000"/>
              </a:spcAft>
              <a:defRPr sz="1100">
                <a:solidFill>
                  <a:srgbClr val="1E1B18"/>
                </a:solidFill>
                <a:latin typeface="Segoe UI"/>
              </a:defRPr>
            </a:pPr>
            <a:r>
              <a:t>Damaged lighting and harassment spots are locked in bureaucratic municipal portals without real-time commuter reach.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874519"/>
            <a:ext cx="5202936" cy="4297680"/>
          </a:xfrm>
          <a:prstGeom prst="roundRect">
            <a:avLst/>
          </a:prstGeom>
          <a:solidFill>
            <a:srgbClr val="F0F8F3"/>
          </a:solidFill>
          <a:ln w="12700"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74536" y="2148840"/>
            <a:ext cx="456285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1B6A47"/>
                </a:solidFill>
                <a:latin typeface="Segoe UI"/>
              </a:defRPr>
            </a:pPr>
            <a:r>
              <a:t>THE WESAFE PLATFORM</a:t>
            </a:r>
          </a:p>
          <a:p>
            <a:pPr>
              <a:spcAft>
                <a:spcPts val="200"/>
              </a:spcAft>
              <a:defRPr sz="1200" b="1">
                <a:solidFill>
                  <a:srgbClr val="1B6A47"/>
                </a:solidFill>
                <a:latin typeface="Segoe UI"/>
              </a:defRPr>
            </a:pPr>
            <a:r>
              <a:t>✓ Preemptive Route Intelligence</a:t>
            </a:r>
          </a:p>
          <a:p>
            <a:pPr>
              <a:spcAft>
                <a:spcPts val="1000"/>
              </a:spcAft>
              <a:defRPr sz="1100">
                <a:solidFill>
                  <a:srgbClr val="1E1B18"/>
                </a:solidFill>
                <a:latin typeface="Segoe UI"/>
              </a:defRPr>
            </a:pPr>
            <a:r>
              <a:t>Evaluates road segment safety indices before departure, actively steering commuters around active hazard zones.</a:t>
            </a:r>
          </a:p>
          <a:p>
            <a:pPr>
              <a:spcAft>
                <a:spcPts val="200"/>
              </a:spcAft>
              <a:defRPr sz="1200" b="1">
                <a:solidFill>
                  <a:srgbClr val="1B6A47"/>
                </a:solidFill>
                <a:latin typeface="Segoe UI"/>
              </a:defRPr>
            </a:pPr>
            <a:r>
              <a:t>✓ Safety-Weighted Dijkstra Pathfinding</a:t>
            </a:r>
          </a:p>
          <a:p>
            <a:pPr>
              <a:spcAft>
                <a:spcPts val="1000"/>
              </a:spcAft>
              <a:defRPr sz="1100">
                <a:solidFill>
                  <a:srgbClr val="1E1B18"/>
                </a:solidFill>
                <a:latin typeface="Segoe UI"/>
              </a:defRPr>
            </a:pPr>
            <a:r>
              <a:t>Calculates mathematically optimal corridors balancing road travel time with street lighting and verified safe havens.</a:t>
            </a:r>
          </a:p>
          <a:p>
            <a:pPr>
              <a:spcAft>
                <a:spcPts val="200"/>
              </a:spcAft>
              <a:defRPr sz="1200" b="1">
                <a:solidFill>
                  <a:srgbClr val="1B6A47"/>
                </a:solidFill>
                <a:latin typeface="Segoe UI"/>
              </a:defRPr>
            </a:pPr>
            <a:r>
              <a:t>✓ Press-and-Hold 3-Second SOS</a:t>
            </a:r>
          </a:p>
          <a:p>
            <a:pPr>
              <a:spcAft>
                <a:spcPts val="1000"/>
              </a:spcAft>
              <a:defRPr sz="1100">
                <a:solidFill>
                  <a:srgbClr val="1E1B18"/>
                </a:solidFill>
                <a:latin typeface="Segoe UI"/>
              </a:defRPr>
            </a:pPr>
            <a:r>
              <a:t>Radial progress ring prevents accidental pocket triggers while guaranteeing instantaneous live GPS broadcast.</a:t>
            </a:r>
          </a:p>
          <a:p>
            <a:pPr>
              <a:spcAft>
                <a:spcPts val="200"/>
              </a:spcAft>
              <a:defRPr sz="1200" b="1">
                <a:solidFill>
                  <a:srgbClr val="1B6A47"/>
                </a:solidFill>
                <a:latin typeface="Segoe UI"/>
              </a:defRPr>
            </a:pPr>
            <a:r>
              <a:t>✓ Live Community Ingestion &amp; Sync</a:t>
            </a:r>
          </a:p>
          <a:p>
            <a:pPr>
              <a:spcAft>
                <a:spcPts val="1000"/>
              </a:spcAft>
              <a:defRPr sz="1100">
                <a:solidFill>
                  <a:srgbClr val="1E1B18"/>
                </a:solidFill>
                <a:latin typeface="Segoe UI"/>
              </a:defRPr>
            </a:pPr>
            <a:r>
              <a:t>Every citizen report enters PostgreSQL instantly with zero verification delays, populating global maps dynamically.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D2E46"/>
                </a:solidFill>
                <a:latin typeface="Segoe UI"/>
              </a:defRPr>
            </a:pPr>
            <a:r>
              <a:t>ALGORITHMIC INNOVATION</a:t>
            </a:r>
          </a:p>
          <a:p>
            <a:pPr>
              <a:spcAft>
                <a:spcPts val="400"/>
              </a:spcAft>
              <a:defRPr sz="2200" b="1">
                <a:solidFill>
                  <a:srgbClr val="1E1B18"/>
                </a:solidFill>
                <a:latin typeface="Segoe UI"/>
              </a:defRPr>
            </a:pPr>
            <a:r>
              <a:t>Safety-Weighted Dijkstra's Algorithm</a:t>
            </a:r>
          </a:p>
          <a:p>
            <a:pPr>
              <a:defRPr sz="1200">
                <a:solidFill>
                  <a:srgbClr val="7A6F66"/>
                </a:solidFill>
                <a:latin typeface="Segoe UI"/>
              </a:defRPr>
            </a:pPr>
            <a:r>
              <a:t>Mathematical formulation of the risk-adjusted routing engine.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62179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D2E46"/>
                </a:solidFill>
                <a:latin typeface="Segoe UI"/>
              </a:defRPr>
            </a:pPr>
            <a:r>
              <a:t>MATHEMATICAL FORMULATION</a:t>
            </a:r>
          </a:p>
          <a:p>
            <a:pPr>
              <a:spcAft>
                <a:spcPts val="1400"/>
              </a:spcAft>
              <a:defRPr sz="1400" b="1">
                <a:solidFill>
                  <a:srgbClr val="6D2E46"/>
                </a:solidFill>
                <a:latin typeface="Consolas"/>
              </a:defRPr>
            </a:pPr>
            <a:r>
              <a:t>W(u, v) = d(u, v) × [ 1 + α × ((100 - S(u, v)) / 100) ]</a:t>
            </a:r>
          </a:p>
          <a:p>
            <a:pPr>
              <a:spcAft>
                <a:spcPts val="800"/>
              </a:spcAft>
              <a:defRPr sz="1100">
                <a:solidFill>
                  <a:srgbClr val="1E1B18"/>
                </a:solidFill>
                <a:latin typeface="Segoe UI"/>
              </a:defRPr>
            </a:pPr>
            <a:r>
              <a:t>• d(u, v): Physical Haversine road segment distance between node u and node v in kilometers.</a:t>
            </a:r>
          </a:p>
          <a:p>
            <a:pPr>
              <a:spcAft>
                <a:spcPts val="800"/>
              </a:spcAft>
              <a:defRPr sz="1100">
                <a:solidFill>
                  <a:srgbClr val="1E1B18"/>
                </a:solidFill>
                <a:latin typeface="Segoe UI"/>
              </a:defRPr>
            </a:pPr>
            <a:r>
              <a:t>• S(u, v): Dynamic Segment Safety Index (10 to 99), determined by proximity to active community hazard reports and Safe Havens.</a:t>
            </a:r>
          </a:p>
          <a:p>
            <a:pPr>
              <a:spcAft>
                <a:spcPts val="800"/>
              </a:spcAft>
              <a:defRPr sz="1100">
                <a:solidFill>
                  <a:srgbClr val="1E1B18"/>
                </a:solidFill>
                <a:latin typeface="Segoe UI"/>
              </a:defRPr>
            </a:pPr>
            <a:r>
              <a:t>• α (alpha): Safety Sensitivity Parameter (default α = 2.5 to 3.5), determining the weight penalty on danger zones.</a:t>
            </a:r>
          </a:p>
          <a:p>
            <a:pPr>
              <a:spcBef>
                <a:spcPts val="800"/>
              </a:spcBef>
              <a:defRPr sz="1050">
                <a:solidFill>
                  <a:srgbClr val="7A6F66"/>
                </a:solidFill>
                <a:latin typeface="Segoe UI"/>
              </a:defRPr>
            </a:pPr>
            <a:r>
              <a:t>Divergence Mechanism: When S(u, v) = 100 (Safe corridor), Weight = d(u, v) × 1.0 (Zero penalty). When S(u, v) = 20 (Critical danger zone), Weight = d(u, v) × (1 + 2.5 × 0.8) = 3.0 × d(u, v) (300% penalty). The algorithm naturally chooses safer parallel bypasses.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874519"/>
            <a:ext cx="4236415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2103120"/>
            <a:ext cx="368777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D2E46"/>
                </a:solidFill>
                <a:latin typeface="Segoe UI"/>
              </a:defRPr>
            </a:pPr>
            <a:r>
              <a:t>EMPIRICAL CASE STUDY</a:t>
            </a:r>
          </a:p>
          <a:p>
            <a:pPr>
              <a:spcAft>
                <a:spcPts val="1400"/>
              </a:spcAft>
              <a:defRPr sz="1100">
                <a:solidFill>
                  <a:srgbClr val="7A6F66"/>
                </a:solidFill>
                <a:latin typeface="Segoe UI"/>
              </a:defRPr>
            </a:pPr>
            <a:r>
              <a:t>Test Route: Sector 53 Corridor</a:t>
            </a:r>
            <a:br/>
            <a:r>
              <a:t>Hazards: 1 Critical assault spot + 1 High poor lighting</a:t>
            </a:r>
          </a:p>
          <a:p>
            <a:pPr>
              <a:defRPr sz="1100">
                <a:solidFill>
                  <a:srgbClr val="1E1B18"/>
                </a:solidFill>
                <a:latin typeface="Segoe UI"/>
              </a:defRPr>
            </a:pPr>
            <a:r>
              <a:t>Standard Dijkstra (Distance-Only):</a:t>
            </a:r>
          </a:p>
          <a:p>
            <a:pPr>
              <a:spcAft>
                <a:spcPts val="1000"/>
              </a:spcAft>
              <a:defRPr sz="1300" b="1">
                <a:solidFill>
                  <a:srgbClr val="A33B3B"/>
                </a:solidFill>
                <a:latin typeface="Segoe UI"/>
              </a:defRPr>
            </a:pPr>
            <a:r>
              <a:t>2.99 km · 24% Safety Score</a:t>
            </a:r>
          </a:p>
          <a:p>
            <a:pPr>
              <a:defRPr sz="1100">
                <a:solidFill>
                  <a:srgbClr val="1E1B18"/>
                </a:solidFill>
                <a:latin typeface="Segoe UI"/>
              </a:defRPr>
            </a:pPr>
            <a:r>
              <a:t>Safety-Weighted Dijkstra:</a:t>
            </a:r>
          </a:p>
          <a:p>
            <a:pPr>
              <a:spcAft>
                <a:spcPts val="1000"/>
              </a:spcAft>
              <a:defRPr sz="1300" b="1">
                <a:solidFill>
                  <a:srgbClr val="1B6A47"/>
                </a:solidFill>
                <a:latin typeface="Segoe UI"/>
              </a:defRPr>
            </a:pPr>
            <a:r>
              <a:t>4.40 km · 77% Safety Score</a:t>
            </a:r>
          </a:p>
          <a:p>
            <a:pPr>
              <a:defRPr sz="1100">
                <a:solidFill>
                  <a:srgbClr val="1E1B18"/>
                </a:solidFill>
                <a:latin typeface="Segoe UI"/>
              </a:defRPr>
            </a:pPr>
            <a:r>
              <a:t>High-Risk Hazards Avoided:</a:t>
            </a:r>
          </a:p>
          <a:p>
            <a:pPr>
              <a:spcAft>
                <a:spcPts val="1000"/>
              </a:spcAft>
              <a:defRPr sz="1300" b="1">
                <a:solidFill>
                  <a:srgbClr val="1B6A47"/>
                </a:solidFill>
                <a:latin typeface="Segoe UI"/>
              </a:defRPr>
            </a:pPr>
            <a:r>
              <a:t>100% (Direct Bypass)</a:t>
            </a:r>
          </a:p>
          <a:p>
            <a:pPr>
              <a:spcBef>
                <a:spcPts val="800"/>
              </a:spcBef>
              <a:defRPr sz="1000">
                <a:solidFill>
                  <a:srgbClr val="7A6F66"/>
                </a:solidFill>
                <a:latin typeface="Segoe UI"/>
              </a:defRPr>
            </a:pPr>
            <a:r>
              <a:t>Data Structure: Custom MinPriorityQueue binary heap implementing BubbleUp / SinkDown with O((V + E) log V) time complexity.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D2E46"/>
                </a:solidFill>
                <a:latin typeface="Segoe UI"/>
              </a:defRPr>
            </a:pPr>
            <a:r>
              <a:t>SYSTEM ARCHITECTURE</a:t>
            </a:r>
          </a:p>
          <a:p>
            <a:pPr>
              <a:spcAft>
                <a:spcPts val="400"/>
              </a:spcAft>
              <a:defRPr sz="2200" b="1">
                <a:solidFill>
                  <a:srgbClr val="1E1B18"/>
                </a:solidFill>
                <a:latin typeface="Segoe UI"/>
              </a:defRPr>
            </a:pPr>
            <a:r>
              <a:t>End-to-End Enterprise Architecture</a:t>
            </a:r>
          </a:p>
          <a:p>
            <a:pPr>
              <a:defRPr sz="1200">
                <a:solidFill>
                  <a:srgbClr val="7A6F66"/>
                </a:solidFill>
                <a:latin typeface="Segoe UI"/>
              </a:defRPr>
            </a:pPr>
            <a:r>
              <a:t>Modular separation of concerns across client, REST API, and PostgreSQL.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6499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8163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D2E46"/>
                </a:solidFill>
                <a:latin typeface="Segoe UI"/>
              </a:defRPr>
            </a:pPr>
            <a:r>
              <a:t>FRONTEND CLIENT</a:t>
            </a:r>
          </a:p>
          <a:p>
            <a:pPr>
              <a:spcAft>
                <a:spcPts val="1400"/>
              </a:spcAft>
              <a:defRPr sz="1500" b="1">
                <a:solidFill>
                  <a:srgbClr val="1E1B18"/>
                </a:solidFill>
                <a:latin typeface="Segoe UI"/>
              </a:defRPr>
            </a:pPr>
            <a:r>
              <a:t>React 18 &amp; MapLibre GL</a:t>
            </a:r>
          </a:p>
          <a:p>
            <a:pPr>
              <a:spcAft>
                <a:spcPts val="200"/>
              </a:spcAft>
              <a:defRPr sz="1100" b="1">
                <a:solidFill>
                  <a:srgbClr val="1E1B18"/>
                </a:solidFill>
                <a:latin typeface="Segoe UI"/>
              </a:defRPr>
            </a:pPr>
            <a:r>
              <a:t>• Vite Build Engine</a:t>
            </a:r>
          </a:p>
          <a:p>
            <a:pPr>
              <a:spcAft>
                <a:spcPts val="8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Sub-7 second production compilation, zero bloat.</a:t>
            </a:r>
          </a:p>
          <a:p>
            <a:pPr>
              <a:spcAft>
                <a:spcPts val="200"/>
              </a:spcAft>
              <a:defRPr sz="1100" b="1">
                <a:solidFill>
                  <a:srgbClr val="1E1B18"/>
                </a:solidFill>
                <a:latin typeface="Segoe UI"/>
              </a:defRPr>
            </a:pPr>
            <a:r>
              <a:t>• MapLibre GL JS &amp; OSM</a:t>
            </a:r>
          </a:p>
          <a:p>
            <a:pPr>
              <a:spcAft>
                <a:spcPts val="8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OpenStreetMap raster tiles with zero API key watermarks or vendor lock-in.</a:t>
            </a:r>
          </a:p>
          <a:p>
            <a:pPr>
              <a:spcAft>
                <a:spcPts val="200"/>
              </a:spcAft>
              <a:defRPr sz="1100" b="1">
                <a:solidFill>
                  <a:srgbClr val="1E1B18"/>
                </a:solidFill>
                <a:latin typeface="Segoe UI"/>
              </a:defRPr>
            </a:pPr>
            <a:r>
              <a:t>• Dijkstra Safety Router</a:t>
            </a:r>
          </a:p>
          <a:p>
            <a:pPr>
              <a:spcAft>
                <a:spcPts val="8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Client-side graph traversal evaluating candidate geometry from OSRM road networks.</a:t>
            </a:r>
          </a:p>
          <a:p>
            <a:pPr>
              <a:spcAft>
                <a:spcPts val="200"/>
              </a:spcAft>
              <a:defRPr sz="1100" b="1">
                <a:solidFill>
                  <a:srgbClr val="1E1B18"/>
                </a:solidFill>
                <a:latin typeface="Segoe UI"/>
              </a:defRPr>
            </a:pPr>
            <a:r>
              <a:t>• Progressive Web App</a:t>
            </a:r>
          </a:p>
          <a:p>
            <a:pPr>
              <a:spcAft>
                <a:spcPts val="8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Service Worker offline shell caching + Web Manifest installation.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920240"/>
            <a:ext cx="336499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1728" y="2194560"/>
            <a:ext cx="28163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D2E46"/>
                </a:solidFill>
                <a:latin typeface="Segoe UI"/>
              </a:defRPr>
            </a:pPr>
            <a:r>
              <a:t>BACKEND REST API</a:t>
            </a:r>
          </a:p>
          <a:p>
            <a:pPr>
              <a:spcAft>
                <a:spcPts val="1400"/>
              </a:spcAft>
              <a:defRPr sz="1500" b="1">
                <a:solidFill>
                  <a:srgbClr val="1E1B18"/>
                </a:solidFill>
                <a:latin typeface="Segoe UI"/>
              </a:defRPr>
            </a:pPr>
            <a:r>
              <a:t>Node.js &amp; Express Server</a:t>
            </a:r>
          </a:p>
          <a:p>
            <a:pPr>
              <a:spcAft>
                <a:spcPts val="200"/>
              </a:spcAft>
              <a:defRPr sz="1100" b="1">
                <a:solidFill>
                  <a:srgbClr val="1E1B18"/>
                </a:solidFill>
                <a:latin typeface="Segoe UI"/>
              </a:defRPr>
            </a:pPr>
            <a:r>
              <a:t>• REST API (Port 5000)</a:t>
            </a:r>
          </a:p>
          <a:p>
            <a:pPr>
              <a:spcAft>
                <a:spcPts val="8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Stateless, modular controllers for auth, reports, emergency contacts, and AI.</a:t>
            </a:r>
          </a:p>
          <a:p>
            <a:pPr>
              <a:spcAft>
                <a:spcPts val="200"/>
              </a:spcAft>
              <a:defRPr sz="1100" b="1">
                <a:solidFill>
                  <a:srgbClr val="1E1B18"/>
                </a:solidFill>
                <a:latin typeface="Segoe UI"/>
              </a:defRPr>
            </a:pPr>
            <a:r>
              <a:t>• Session Security</a:t>
            </a:r>
          </a:p>
          <a:p>
            <a:pPr>
              <a:spcAft>
                <a:spcPts val="8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JWT authentication via HTTP-only cookies and Bearer headers, bcrypt 10-round salt.</a:t>
            </a:r>
          </a:p>
          <a:p>
            <a:pPr>
              <a:spcAft>
                <a:spcPts val="200"/>
              </a:spcAft>
              <a:defRPr sz="1100" b="1">
                <a:solidFill>
                  <a:srgbClr val="1E1B18"/>
                </a:solidFill>
                <a:latin typeface="Segoe UI"/>
              </a:defRPr>
            </a:pPr>
            <a:r>
              <a:t>• 1km Proximity Consensus</a:t>
            </a:r>
          </a:p>
          <a:p>
            <a:pPr>
              <a:spcAft>
                <a:spcPts val="8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Auto-boosts priority of matching reports filed within 1km radius.</a:t>
            </a:r>
          </a:p>
          <a:p>
            <a:pPr>
              <a:spcAft>
                <a:spcPts val="200"/>
              </a:spcAft>
              <a:defRPr sz="1100" b="1">
                <a:solidFill>
                  <a:srgbClr val="1E1B18"/>
                </a:solidFill>
                <a:latin typeface="Segoe UI"/>
              </a:defRPr>
            </a:pPr>
            <a:r>
              <a:t>• Google Gemini Service</a:t>
            </a:r>
          </a:p>
          <a:p>
            <a:pPr>
              <a:spcAft>
                <a:spcPts val="8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Contextual incident auto-classification and emergency conversational guidance.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920240"/>
            <a:ext cx="336499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57616" y="2194560"/>
            <a:ext cx="28163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D2E46"/>
                </a:solidFill>
                <a:latin typeface="Segoe UI"/>
              </a:defRPr>
            </a:pPr>
            <a:r>
              <a:t>DATABASE ENGINE</a:t>
            </a:r>
          </a:p>
          <a:p>
            <a:pPr>
              <a:spcAft>
                <a:spcPts val="1400"/>
              </a:spcAft>
              <a:defRPr sz="1500" b="1">
                <a:solidFill>
                  <a:srgbClr val="1E1B18"/>
                </a:solidFill>
                <a:latin typeface="Segoe UI"/>
              </a:defRPr>
            </a:pPr>
            <a:r>
              <a:t>PostgreSQL Relational DB</a:t>
            </a:r>
          </a:p>
          <a:p>
            <a:pPr>
              <a:spcAft>
                <a:spcPts val="200"/>
              </a:spcAft>
              <a:defRPr sz="1100" b="1">
                <a:solidFill>
                  <a:srgbClr val="1E1B18"/>
                </a:solidFill>
                <a:latin typeface="Segoe UI"/>
              </a:defRPr>
            </a:pPr>
            <a:r>
              <a:t>• Normalized Schema</a:t>
            </a:r>
          </a:p>
          <a:p>
            <a:pPr>
              <a:spcAft>
                <a:spcPts val="8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Tables for users, reports, emergency_contacts, safe_havens, and audit_logs.</a:t>
            </a:r>
          </a:p>
          <a:p>
            <a:pPr>
              <a:spcAft>
                <a:spcPts val="200"/>
              </a:spcAft>
              <a:defRPr sz="1100" b="1">
                <a:solidFill>
                  <a:srgbClr val="1E1B18"/>
                </a:solidFill>
                <a:latin typeface="Segoe UI"/>
              </a:defRPr>
            </a:pPr>
            <a:r>
              <a:t>• Geospatial Coordinates</a:t>
            </a:r>
          </a:p>
          <a:p>
            <a:pPr>
              <a:spcAft>
                <a:spcPts val="8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Float8 precision latitude &amp; longitude with spatial B-tree indexing.</a:t>
            </a:r>
          </a:p>
          <a:p>
            <a:pPr>
              <a:spcAft>
                <a:spcPts val="200"/>
              </a:spcAft>
              <a:defRPr sz="1100" b="1">
                <a:solidFill>
                  <a:srgbClr val="1E1B18"/>
                </a:solidFill>
                <a:latin typeface="Segoe UI"/>
              </a:defRPr>
            </a:pPr>
            <a:r>
              <a:t>• Strict Two-State Model</a:t>
            </a:r>
          </a:p>
          <a:p>
            <a:pPr>
              <a:spcAft>
                <a:spcPts val="8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Enforced 'Unresolved' vs 'Resolved' lifecycle without bureaucratic gating.</a:t>
            </a:r>
          </a:p>
          <a:p>
            <a:pPr>
              <a:spcAft>
                <a:spcPts val="200"/>
              </a:spcAft>
              <a:defRPr sz="1100" b="1">
                <a:solidFill>
                  <a:srgbClr val="1E1B18"/>
                </a:solidFill>
                <a:latin typeface="Segoe UI"/>
              </a:defRPr>
            </a:pPr>
            <a:r>
              <a:t>• Full Audit History</a:t>
            </a:r>
          </a:p>
          <a:p>
            <a:pPr>
              <a:spcAft>
                <a:spcPts val="8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Tracks admin resolution notes, timestamps, and previous status transitions.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D2E46"/>
                </a:solidFill>
                <a:latin typeface="Segoe UI"/>
              </a:defRPr>
            </a:pPr>
            <a:r>
              <a:t>DATA INTEGRITY &amp; VERIFICATION</a:t>
            </a:r>
          </a:p>
          <a:p>
            <a:pPr>
              <a:spcAft>
                <a:spcPts val="400"/>
              </a:spcAft>
              <a:defRPr sz="2200" b="1">
                <a:solidFill>
                  <a:srgbClr val="1E1B18"/>
                </a:solidFill>
                <a:latin typeface="Segoe UI"/>
              </a:defRPr>
            </a:pPr>
            <a:r>
              <a:t>PostgreSQL Pipeline &amp; Multi-User Verification</a:t>
            </a:r>
          </a:p>
          <a:p>
            <a:pPr>
              <a:defRPr sz="1200">
                <a:solidFill>
                  <a:srgbClr val="7A6F66"/>
                </a:solidFill>
                <a:latin typeface="Segoe UI"/>
              </a:defRPr>
            </a:pPr>
            <a:r>
              <a:t>Eliminating mock storage illusions with verified relational persistence.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520293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6542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6D2E46"/>
                </a:solidFill>
                <a:latin typeface="Segoe UI"/>
              </a:defRPr>
            </a:pPr>
            <a:r>
              <a:t>DATABASE SCHEMA (POSTGRESQL)</a:t>
            </a:r>
          </a:p>
          <a:p>
            <a:pPr>
              <a:spcAft>
                <a:spcPts val="1200"/>
              </a:spcAft>
              <a:defRPr sz="950">
                <a:solidFill>
                  <a:srgbClr val="1E1B18"/>
                </a:solidFill>
                <a:latin typeface="Consolas"/>
              </a:defRPr>
            </a:pPr>
            <a:r>
              <a:t>CREATE TABLE reports (</a:t>
            </a:r>
            <a:br/>
            <a:r>
              <a:t>  id SERIAL PRIMARY KEY,</a:t>
            </a:r>
            <a:br/>
            <a:r>
              <a:t>  user_id INTEGER REFERENCES users(id),</a:t>
            </a:r>
            <a:br/>
            <a:r>
              <a:t>  title VARCHAR(200) NOT NULL,</a:t>
            </a:r>
            <a:br/>
            <a:r>
              <a:t>  category VARCHAR(50) NOT NULL,</a:t>
            </a:r>
            <a:br/>
            <a:r>
              <a:t>  latitude DOUBLE PRECISION NOT NULL,</a:t>
            </a:r>
            <a:br/>
            <a:r>
              <a:t>  longitude DOUBLE PRECISION NOT NULL,</a:t>
            </a:r>
            <a:br/>
            <a:r>
              <a:t>  address VARCHAR(255),</a:t>
            </a:r>
            <a:br/>
            <a:r>
              <a:t>  severity VARCHAR(20) DEFAULT 'Medium',</a:t>
            </a:r>
            <a:br/>
            <a:r>
              <a:t>  status VARCHAR(30) DEFAULT 'Unresolved',</a:t>
            </a:r>
            <a:br/>
            <a:r>
              <a:t>  verification_status VARCHAR(50) DEFAULT 'Publicly Live',</a:t>
            </a:r>
            <a:br/>
            <a:r>
              <a:t>  created_at TIMESTAMP WITH TIME ZONE DEFAULT NOW()</a:t>
            </a:r>
            <a:br/>
            <a:r>
              <a:t>);</a:t>
            </a:r>
          </a:p>
          <a:p>
            <a:pPr>
              <a:defRPr sz="1050">
                <a:solidFill>
                  <a:srgbClr val="7A6F66"/>
                </a:solidFill>
                <a:latin typeface="Segoe UI"/>
              </a:defRPr>
            </a:pPr>
            <a:r>
              <a:t>Key Schema Rule: Default status is strictly 'Unresolved'. There are no intermediate bureaucratic gating queues. Every report filed by an authenticated user is immediately rendered publicly across all user maps.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874519"/>
            <a:ext cx="5202936" cy="4297680"/>
          </a:xfrm>
          <a:prstGeom prst="roundRect">
            <a:avLst/>
          </a:prstGeom>
          <a:solidFill>
            <a:srgbClr val="F0F8F3"/>
          </a:solidFill>
          <a:ln w="12700"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8816" y="2103120"/>
            <a:ext cx="46542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1B6A47"/>
                </a:solidFill>
                <a:latin typeface="Segoe UI"/>
              </a:defRPr>
            </a:pPr>
            <a:r>
              <a:t>VERIFIED TWO-CLIENT INTEGRATION TEST</a:t>
            </a:r>
          </a:p>
          <a:p>
            <a:pPr>
              <a:spcAft>
                <a:spcPts val="200"/>
              </a:spcAft>
              <a:defRPr sz="1100" b="1">
                <a:solidFill>
                  <a:srgbClr val="1B6A47"/>
                </a:solidFill>
                <a:latin typeface="Segoe UI"/>
              </a:defRPr>
            </a:pPr>
            <a:r>
              <a:t>✓ Step 1: User A Registration &amp; Submission</a:t>
            </a:r>
          </a:p>
          <a:p>
            <a:pPr>
              <a:spcAft>
                <a:spcPts val="800"/>
              </a:spcAft>
              <a:defRPr sz="1000">
                <a:solidFill>
                  <a:srgbClr val="1E1B18"/>
                </a:solidFill>
                <a:latin typeface="Segoe UI"/>
              </a:defRPr>
            </a:pPr>
            <a:r>
              <a:t>User A registers via POST /api/auth/register, receives JWT. Submits incident 'Broken CCTV and Dark Alley' via POST /api/reports. Express confirms HTTP 201 with created PostgreSQL ID 5.</a:t>
            </a:r>
          </a:p>
          <a:p>
            <a:pPr>
              <a:spcAft>
                <a:spcPts val="200"/>
              </a:spcAft>
              <a:defRPr sz="1100" b="1">
                <a:solidFill>
                  <a:srgbClr val="1B6A47"/>
                </a:solidFill>
                <a:latin typeface="Segoe UI"/>
              </a:defRPr>
            </a:pPr>
            <a:r>
              <a:t>✓ Step 2: Direct Database State Audit</a:t>
            </a:r>
          </a:p>
          <a:p>
            <a:pPr>
              <a:spcAft>
                <a:spcPts val="800"/>
              </a:spcAft>
              <a:defRPr sz="1000">
                <a:solidFill>
                  <a:srgbClr val="1E1B18"/>
                </a:solidFill>
                <a:latin typeface="Segoe UI"/>
              </a:defRPr>
            </a:pPr>
            <a:r>
              <a:t>Query 'SELECT * FROM reports WHERE id = 5' executed directly on PostgreSQL. Row confirmed with exact coordinates (30.7250, 76.7650) and status 'Unresolved'.</a:t>
            </a:r>
          </a:p>
          <a:p>
            <a:pPr>
              <a:spcAft>
                <a:spcPts val="200"/>
              </a:spcAft>
              <a:defRPr sz="1100" b="1">
                <a:solidFill>
                  <a:srgbClr val="1B6A47"/>
                </a:solidFill>
                <a:latin typeface="Segoe UI"/>
              </a:defRPr>
            </a:pPr>
            <a:r>
              <a:t>✓ Step 3: User B Retrieval &amp; Map Synchronization</a:t>
            </a:r>
          </a:p>
          <a:p>
            <a:pPr>
              <a:spcAft>
                <a:spcPts val="800"/>
              </a:spcAft>
              <a:defRPr sz="1000">
                <a:solidFill>
                  <a:srgbClr val="1E1B18"/>
                </a:solidFill>
                <a:latin typeface="Segoe UI"/>
              </a:defRPr>
            </a:pPr>
            <a:r>
              <a:t>User B logs in independently. Calls GET /api/incidents. PostgreSQL returns 5 reports, including User A's newly inserted hazard. Map renders marker immediately.</a:t>
            </a:r>
          </a:p>
          <a:p>
            <a:pPr>
              <a:spcAft>
                <a:spcPts val="200"/>
              </a:spcAft>
              <a:defRPr sz="1100" b="1">
                <a:solidFill>
                  <a:srgbClr val="1B6A47"/>
                </a:solidFill>
                <a:latin typeface="Segoe UI"/>
              </a:defRPr>
            </a:pPr>
            <a:r>
              <a:t>✓ Step 4: End-to-End Status Result</a:t>
            </a:r>
          </a:p>
          <a:p>
            <a:pPr>
              <a:spcAft>
                <a:spcPts val="800"/>
              </a:spcAft>
              <a:defRPr sz="1000">
                <a:solidFill>
                  <a:srgbClr val="1E1B18"/>
                </a:solidFill>
                <a:latin typeface="Segoe UI"/>
              </a:defRPr>
            </a:pPr>
            <a:r>
              <a:t>Test completed with 100% success. True relational persistence verified across multiple independent browser sessions.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D2E46"/>
                </a:solidFill>
                <a:latin typeface="Segoe UI"/>
              </a:defRPr>
            </a:pPr>
            <a:r>
              <a:t>DYNAMIC SAFETY TELEMETRY</a:t>
            </a:r>
          </a:p>
          <a:p>
            <a:pPr>
              <a:spcAft>
                <a:spcPts val="400"/>
              </a:spcAft>
              <a:defRPr sz="2200" b="1">
                <a:solidFill>
                  <a:srgbClr val="1E1B18"/>
                </a:solidFill>
                <a:latin typeface="Segoe UI"/>
              </a:defRPr>
            </a:pPr>
            <a:r>
              <a:t>Real-Time Safety Index Engine</a:t>
            </a:r>
          </a:p>
          <a:p>
            <a:pPr>
              <a:defRPr sz="1200">
                <a:solidFill>
                  <a:srgbClr val="7A6F66"/>
                </a:solidFill>
                <a:latin typeface="Segoe UI"/>
              </a:defRPr>
            </a:pPr>
            <a:r>
              <a:t>Mathematical feedback loop connecting community hazards to commuter navigation.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6499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281635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6D2E46"/>
                </a:solidFill>
                <a:latin typeface="Segoe UI"/>
              </a:defRPr>
            </a:pPr>
            <a:r>
              <a:t>MATHEMATICAL SCORING</a:t>
            </a:r>
          </a:p>
          <a:p>
            <a:pPr>
              <a:spcAft>
                <a:spcPts val="1400"/>
              </a:spcAft>
              <a:defRPr sz="1600" b="1">
                <a:solidFill>
                  <a:srgbClr val="1E1B18"/>
                </a:solidFill>
                <a:latin typeface="Segoe UI"/>
              </a:defRPr>
            </a:pPr>
            <a:r>
              <a:t>Telemetry Formula</a:t>
            </a:r>
          </a:p>
          <a:p>
            <a:pPr>
              <a:defRPr sz="1100">
                <a:solidFill>
                  <a:srgbClr val="7A6F66"/>
                </a:solidFill>
                <a:latin typeface="Segoe UI"/>
              </a:defRPr>
            </a:pPr>
            <a:r>
              <a:t>SafetyScore = clamp(95 - (8 × N_high) - (3 × N_med), 45, 95)</a:t>
            </a:r>
            <a:br/>
            <a:br/>
            <a:r>
              <a:t>• N_high: Count of active unresolved Critical / High hazards.</a:t>
            </a:r>
            <a:br/>
            <a:r>
              <a:t>• N_med: Count of active unresolved Medium hazards.</a:t>
            </a:r>
            <a:br/>
            <a:r>
              <a:t>• Lower Bound: Floor of 45% prevents panic hysteria while maintaining high situational vigilance.</a:t>
            </a:r>
            <a:br/>
            <a:r>
              <a:t>• Ceiling: Base pristine score of 95%.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920240"/>
            <a:ext cx="336499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1728" y="2240280"/>
            <a:ext cx="281635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6D2E46"/>
                </a:solidFill>
                <a:latin typeface="Segoe UI"/>
              </a:defRPr>
            </a:pPr>
            <a:r>
              <a:t>BACKGROUND SYNC</a:t>
            </a:r>
          </a:p>
          <a:p>
            <a:pPr>
              <a:spcAft>
                <a:spcPts val="1400"/>
              </a:spcAft>
              <a:defRPr sz="1600" b="1">
                <a:solidFill>
                  <a:srgbClr val="1E1B18"/>
                </a:solidFill>
                <a:latin typeface="Segoe UI"/>
              </a:defRPr>
            </a:pPr>
            <a:r>
              <a:t>Multi-Device Polling</a:t>
            </a:r>
          </a:p>
          <a:p>
            <a:pPr>
              <a:defRPr sz="1100">
                <a:solidFill>
                  <a:srgbClr val="7A6F66"/>
                </a:solidFill>
                <a:latin typeface="Segoe UI"/>
              </a:defRPr>
            </a:pPr>
            <a:r>
              <a:t>Continuous Background Telemetry:</a:t>
            </a:r>
            <a:br/>
            <a:br/>
            <a:r>
              <a:t>• 5-Second Interval Polling in SafetyContext automatically retrieves fresh PostgreSQL reports.</a:t>
            </a:r>
            <a:br/>
            <a:r>
              <a:t>• Reactive window storage listeners detect local multi-tab changes instantaneously.</a:t>
            </a:r>
            <a:br/>
            <a:r>
              <a:t>• Header badge (Safety Index XX%) updates dynamically across all devices without requiring manual page reload.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920240"/>
            <a:ext cx="336499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57616" y="2240280"/>
            <a:ext cx="281635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6D2E46"/>
                </a:solidFill>
                <a:latin typeface="Segoe UI"/>
              </a:defRPr>
            </a:pPr>
            <a:r>
              <a:t>MICRO-ZONE ANALYSIS</a:t>
            </a:r>
          </a:p>
          <a:p>
            <a:pPr>
              <a:spcAft>
                <a:spcPts val="1400"/>
              </a:spcAft>
              <a:defRPr sz="1600" b="1">
                <a:solidFill>
                  <a:srgbClr val="1E1B18"/>
                </a:solidFill>
                <a:latin typeface="Segoe UI"/>
              </a:defRPr>
            </a:pPr>
            <a:r>
              <a:t>Spatial Radius Scoring</a:t>
            </a:r>
          </a:p>
          <a:p>
            <a:pPr>
              <a:defRPr sz="1100">
                <a:solidFill>
                  <a:srgbClr val="7A6F66"/>
                </a:solidFill>
                <a:latin typeface="Segoe UI"/>
              </a:defRPr>
            </a:pPr>
            <a:r>
              <a:t>Neighborhood-Level Sensitivity:</a:t>
            </a:r>
            <a:br/>
            <a:br/>
            <a:r>
              <a:t>• Proximity radius calculations assess safety within 500m to 1km of the user's active GPS coordinates.</a:t>
            </a:r>
            <a:br/>
            <a:r>
              <a:t>• Distinguishes safe transit corridors from isolated hazard clusters.</a:t>
            </a:r>
            <a:br/>
            <a:r>
              <a:t>• Feeds directly into Dijkstra edge weighting for proactive detour calculations.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D2E46"/>
                </a:solidFill>
                <a:latin typeface="Segoe UI"/>
              </a:defRPr>
            </a:pPr>
            <a:r>
              <a:t>GOVERNANCE &amp; ROADMAP</a:t>
            </a:r>
          </a:p>
          <a:p>
            <a:pPr>
              <a:spcAft>
                <a:spcPts val="400"/>
              </a:spcAft>
              <a:defRPr sz="2200" b="1">
                <a:solidFill>
                  <a:srgbClr val="1E1B18"/>
                </a:solidFill>
                <a:latin typeface="Segoe UI"/>
              </a:defRPr>
            </a:pPr>
            <a:r>
              <a:t>Municipal Resolution &amp; Future Milestones</a:t>
            </a:r>
          </a:p>
          <a:p>
            <a:pPr>
              <a:defRPr sz="1200">
                <a:solidFill>
                  <a:srgbClr val="7A6F66"/>
                </a:solidFill>
                <a:latin typeface="Segoe UI"/>
              </a:defRPr>
            </a:pPr>
            <a:r>
              <a:t>Bridging community hazard reporting with citywide infrastructure repair.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520293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6542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6D2E46"/>
                </a:solidFill>
                <a:latin typeface="Segoe UI"/>
              </a:defRPr>
            </a:pPr>
            <a:r>
              <a:t>MUNICIPAL RESOLUTION LIFECYCLE</a:t>
            </a:r>
          </a:p>
          <a:p>
            <a:pPr>
              <a:spcAft>
                <a:spcPts val="200"/>
              </a:spcAft>
              <a:defRPr sz="1150" b="1">
                <a:solidFill>
                  <a:srgbClr val="1E1B18"/>
                </a:solidFill>
                <a:latin typeface="Segoe UI"/>
              </a:defRPr>
            </a:pPr>
            <a:r>
              <a:t>1. Citizen Ingestion</a:t>
            </a:r>
          </a:p>
          <a:p>
            <a:pPr>
              <a:spcAft>
                <a:spcPts val="10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Citizen logs defect (e.g. Broken Streetlight). Immediately marked 'Unresolved' and plotted on map.</a:t>
            </a:r>
          </a:p>
          <a:p>
            <a:pPr>
              <a:spcAft>
                <a:spcPts val="200"/>
              </a:spcAft>
              <a:defRPr sz="1150" b="1">
                <a:solidFill>
                  <a:srgbClr val="1E1B18"/>
                </a:solidFill>
                <a:latin typeface="Segoe UI"/>
              </a:defRPr>
            </a:pPr>
            <a:r>
              <a:t>2. Municipal Prioritization</a:t>
            </a:r>
          </a:p>
          <a:p>
            <a:pPr>
              <a:spcAft>
                <a:spcPts val="10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City operations dashboard filters unverified hazards by severity and 1km proximity consensus clusters.</a:t>
            </a:r>
          </a:p>
          <a:p>
            <a:pPr>
              <a:spcAft>
                <a:spcPts val="200"/>
              </a:spcAft>
              <a:defRPr sz="1150" b="1">
                <a:solidFill>
                  <a:srgbClr val="1E1B18"/>
                </a:solidFill>
                <a:latin typeface="Segoe UI"/>
              </a:defRPr>
            </a:pPr>
            <a:r>
              <a:t>3. Field Dispatch &amp; Repair</a:t>
            </a:r>
          </a:p>
          <a:p>
            <a:pPr>
              <a:spcAft>
                <a:spcPts val="10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Public works teams dispatch maintenance (bulb replacement, surveillance restoration, police patrol).</a:t>
            </a:r>
          </a:p>
          <a:p>
            <a:pPr>
              <a:spcAft>
                <a:spcPts val="200"/>
              </a:spcAft>
              <a:defRPr sz="1150" b="1">
                <a:solidFill>
                  <a:srgbClr val="1E1B18"/>
                </a:solidFill>
                <a:latin typeface="Segoe UI"/>
              </a:defRPr>
            </a:pPr>
            <a:r>
              <a:t>4. Resolution Rebound</a:t>
            </a:r>
          </a:p>
          <a:p>
            <a:pPr>
              <a:spcAft>
                <a:spcPts val="10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Administrator marks report 'Resolved'. Map pin turns green and Safety Index score rebounds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874519"/>
            <a:ext cx="520293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8816" y="2103120"/>
            <a:ext cx="465429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6D2E46"/>
                </a:solidFill>
                <a:latin typeface="Segoe UI"/>
              </a:defRPr>
            </a:pPr>
            <a:r>
              <a:t>TECHNICAL ROADMAP</a:t>
            </a:r>
          </a:p>
          <a:p>
            <a:pPr>
              <a:spcAft>
                <a:spcPts val="200"/>
              </a:spcAft>
              <a:defRPr sz="1150" b="1">
                <a:solidFill>
                  <a:srgbClr val="1B6A47"/>
                </a:solidFill>
                <a:latin typeface="Segoe UI"/>
              </a:defRPr>
            </a:pPr>
            <a:r>
              <a:t>• Phase 1: Present (Verified)</a:t>
            </a:r>
          </a:p>
          <a:p>
            <a:pPr>
              <a:spcAft>
                <a:spcPts val="12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PostgreSQL relational persistence, modified Dijkstra safety router, MapLibre GL navigation, press-and-hold 3s SOS dispatcher.</a:t>
            </a:r>
          </a:p>
          <a:p>
            <a:pPr>
              <a:spcAft>
                <a:spcPts val="200"/>
              </a:spcAft>
              <a:defRPr sz="1150" b="1">
                <a:solidFill>
                  <a:srgbClr val="1E1B18"/>
                </a:solidFill>
                <a:latin typeface="Segoe UI"/>
              </a:defRPr>
            </a:pPr>
            <a:r>
              <a:t>• Phase 2: Mobile &amp; Real-Time (Next)</a:t>
            </a:r>
          </a:p>
          <a:p>
            <a:pPr>
              <a:spcAft>
                <a:spcPts val="12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React Native cross-platform iOS &amp; Android mobile builds, WebSocket / Server-Sent Events bidirectional live dispatch, Twilio SMS gateway.</a:t>
            </a:r>
          </a:p>
          <a:p>
            <a:pPr>
              <a:spcAft>
                <a:spcPts val="200"/>
              </a:spcAft>
              <a:defRPr sz="1150" b="1">
                <a:solidFill>
                  <a:srgbClr val="7A6F66"/>
                </a:solidFill>
                <a:latin typeface="Segoe UI"/>
              </a:defRPr>
            </a:pPr>
            <a:r>
              <a:t>• Phase 3: Smart City Ecosystem</a:t>
            </a:r>
          </a:p>
          <a:p>
            <a:pPr>
              <a:spcAft>
                <a:spcPts val="1200"/>
              </a:spcAft>
              <a:defRPr sz="1000">
                <a:solidFill>
                  <a:srgbClr val="7A6F66"/>
                </a:solidFill>
                <a:latin typeface="Segoe UI"/>
              </a:defRPr>
            </a:pPr>
            <a:r>
              <a:t>Municipal Police CAD API integration, smart streetlighting IoT telemetry sync, nighttime public transit safety relays.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